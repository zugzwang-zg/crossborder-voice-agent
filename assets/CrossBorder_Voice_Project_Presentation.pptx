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CrossBorder Voice 是一个面向跨境美妆运营的英西双语评论洞察 Agent。它把评论转化为可追溯的产品问题、购买动机和内容机会。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项目服务于跨境美妆品牌的内容、产品与用户研究岗位。核心原则是 Agent 整理证据，人完成最终判断。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 MARC 英语和西班牙语 beauty 类目中按语言与星级进行确定性分层抽样。原始评论来自 2015 到 2019 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标签体系不仅描述情感，还包含属性、问题、动机、场景、预期落差和言语行为。每个判断都必须绑定评论中的最小充分证据。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流水线提供结构校验、证据校验、自动重试与断点续跑。网络中断时不会覆盖已完成结果，缺失记录可以单独补跑。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看板支持语言、星级、情感、属性、痛点和场景筛选。用户可以从总体趋势、跨语言对照和洞察卡片回到评论原文。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在冻结的 100 条人工金标测试集上，改进版达到 100% JSON 成功率、89% 情感准确率、74.02% 属性 F1 和 96% 人工证据语义有效率。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例如低星样本中效果不足有 72 条支持，延迟或未送达有 38 条；高星样本中送礼有 20 条支持。这些洞察可以转化为详情页预期管理、客服 FAQ 和内容选题。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项目已经完成数据、标签体系、模型流水线、评测与看板。尚未完成的时间节省、实际中转站成本和人工 AI 覆盖率明确标记为待补测。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4F1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86182\Documents\Codex\2026-07-28\wo\outputs\crossborder-voice\dashboard\public\social-preview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0" y="374904"/>
            <a:ext cx="12191695" cy="610819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638"/>
          </a:solidFill>
          <a:ln w="12700">
            <a:solidFill>
              <a:srgbClr val="0B2638"/>
            </a:solidFill>
            <a:prstDash val="solid"/>
          </a:ln>
        </p:spPr>
      </p:sp>
      <p:pic>
        <p:nvPicPr>
          <p:cNvPr id="4" name="Image 1" descr="C:\Users\86182\Documents\Codex\2026-07-28\wo\outputs\crossborder-voice\dashboard\public\social-preview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>
            <a:off x="4800600" y="621792"/>
            <a:ext cx="7178040" cy="359359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0B2638"/>
          </a:solidFill>
          <a:ln w="12700">
            <a:solidFill>
              <a:srgbClr val="0B263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676656" y="658368"/>
            <a:ext cx="1572768" cy="246888"/>
          </a:xfrm>
          <a:prstGeom prst="roundRect">
            <a:avLst>
              <a:gd name="adj" fmla="val 29630"/>
            </a:avLst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76656" y="66294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PROTOTYPE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676656" y="1298448"/>
            <a:ext cx="448056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CrossBorder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</a:t>
            </a:r>
            <a:endParaRPr lang="en-US" sz="3800" dirty="0"/>
          </a:p>
        </p:txBody>
      </p:sp>
      <p:sp>
        <p:nvSpPr>
          <p:cNvPr id="9" name="Text 5"/>
          <p:cNvSpPr txBox="1"/>
          <p:nvPr/>
        </p:nvSpPr>
        <p:spPr>
          <a:xfrm>
            <a:off x="694944" y="2889504"/>
            <a:ext cx="4526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F1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跨境电商英西双语评论洞察 Agent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694944" y="351129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EC1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语言学标签体系 × LLM 结构化分析 × 可追溯业务看板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94944" y="4617720"/>
            <a:ext cx="4343400" cy="0"/>
          </a:xfrm>
          <a:prstGeom prst="line">
            <a:avLst/>
          </a:prstGeom>
          <a:noFill/>
          <a:ln w="16510">
            <a:solidFill>
              <a:srgbClr val="3E9B9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94944" y="4791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E8A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reviews   ·   EN / ES   ·   100 gold labels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94944" y="51663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CB1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validation, not a current-market trend report.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694944" y="6071616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10" kern="0" dirty="0">
                <a:solidFill>
                  <a:srgbClr val="7F9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PRESENTATION · 2026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PROBLEM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从“读评论”到“可执行决策”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传统星级统计无法回答：改什么、说什么、证据在哪里。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3246120" cy="832104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104" y="2002536"/>
            <a:ext cx="393192" cy="393192"/>
          </a:xfrm>
          <a:prstGeom prst="ellipse">
            <a:avLst/>
          </a:prstGeom>
          <a:solidFill>
            <a:srgbClr val="126E78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2011680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1892808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89888" y="2139696"/>
            <a:ext cx="2267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双语评论量大，逐条阅读耗时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2898648"/>
            <a:ext cx="3246120" cy="832104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3118104"/>
            <a:ext cx="393192" cy="393192"/>
          </a:xfrm>
          <a:prstGeom prst="ellipse">
            <a:avLst/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" y="3127248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3008376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表达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389888" y="3255264"/>
            <a:ext cx="2267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同一星级可能包含混合或不确定态度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58368" y="4014216"/>
            <a:ext cx="3246120" cy="832104"/>
          </a:xfrm>
          <a:prstGeom prst="roundRect">
            <a:avLst>
              <a:gd name="adj" fmla="val 8791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" y="4233672"/>
            <a:ext cx="393192" cy="393192"/>
          </a:xfrm>
          <a:prstGeom prst="ellipse">
            <a:avLst/>
          </a:prstGeom>
          <a:solidFill>
            <a:srgbClr val="126E78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2104" y="4242816"/>
            <a:ext cx="393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4123944"/>
            <a:ext cx="585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389888" y="4370832"/>
            <a:ext cx="2267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结论缺少支持量与原文，难以复核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33088" y="2816352"/>
            <a:ext cx="795528" cy="0"/>
          </a:xfrm>
          <a:prstGeom prst="line">
            <a:avLst/>
          </a:prstGeom>
          <a:noFill/>
          <a:ln w="27940">
            <a:solidFill>
              <a:srgbClr val="E7653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20640" y="1664208"/>
            <a:ext cx="2788920" cy="3364992"/>
          </a:xfrm>
          <a:prstGeom prst="roundRect">
            <a:avLst>
              <a:gd name="adj" fmla="val 3279"/>
            </a:avLst>
          </a:prstGeom>
          <a:solidFill>
            <a:srgbClr val="0B2638"/>
          </a:solidFill>
          <a:ln w="12700">
            <a:solidFill>
              <a:srgbClr val="0B263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04104" y="1947672"/>
            <a:ext cx="1435608" cy="246888"/>
          </a:xfrm>
          <a:prstGeom prst="roundRect">
            <a:avLst>
              <a:gd name="adj" fmla="val 29630"/>
            </a:avLst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04104" y="1952244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CROSSBORDER VOICE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5404104" y="2459736"/>
            <a:ext cx="2167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结构化消费者声音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404104" y="301752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 · 属性 · 痛点 · 动机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· 预期落差 · 言语行为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8D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每个标签绑定原文证据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04104" y="44897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E8A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119872" y="2816352"/>
            <a:ext cx="795528" cy="0"/>
          </a:xfrm>
          <a:prstGeom prst="line">
            <a:avLst/>
          </a:prstGeom>
          <a:noFill/>
          <a:ln w="27940">
            <a:solidFill>
              <a:srgbClr val="126E7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61704" y="1783080"/>
            <a:ext cx="2468880" cy="832104"/>
          </a:xfrm>
          <a:prstGeom prst="roundRect">
            <a:avLst>
              <a:gd name="adj" fmla="val 8791"/>
            </a:avLst>
          </a:prstGeom>
          <a:solidFill>
            <a:srgbClr val="DCECE7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99448" y="18928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产品运营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299448" y="2148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问题优先级与改进方向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9061704" y="2898648"/>
            <a:ext cx="2468880" cy="832104"/>
          </a:xfrm>
          <a:prstGeom prst="roundRect">
            <a:avLst>
              <a:gd name="adj" fmla="val 8791"/>
            </a:avLst>
          </a:prstGeom>
          <a:solidFill>
            <a:srgbClr val="F5D6C8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299448" y="30083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内容运营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299448" y="32644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详情页、广告与选题机会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061704" y="4014216"/>
            <a:ext cx="2468880" cy="832104"/>
          </a:xfrm>
          <a:prstGeom prst="roundRect">
            <a:avLst>
              <a:gd name="adj" fmla="val 8791"/>
            </a:avLst>
          </a:prstGeom>
          <a:solidFill>
            <a:srgbClr val="DCECE7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99448" y="412394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用户研究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299448" y="4379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跨语言关注点与证据复核</a:t>
            </a:r>
            <a:endParaRPr lang="en-US" sz="93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5632704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核心原则：Agent 先整理证据，人再完成判断。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44652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A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project_brief.md · annotation_guideline.md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DATASET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用均衡抽样把语言与星级拆开看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固定种子、10 个分层、冻结测试集：让结果可复现，也避免把星级直接当成情感。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187452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00784"/>
            <a:ext cx="82296" cy="950976"/>
          </a:xfrm>
          <a:prstGeom prst="rect">
            <a:avLst/>
          </a:prstGeom>
          <a:solidFill>
            <a:srgbClr val="0B2638"/>
          </a:solidFill>
          <a:ln w="12700">
            <a:solidFill>
              <a:srgbClr val="0B26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1828800"/>
            <a:ext cx="1545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276856"/>
            <a:ext cx="1545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正式评论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688336" y="1700784"/>
            <a:ext cx="221284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88336" y="1700784"/>
            <a:ext cx="82296" cy="950976"/>
          </a:xfrm>
          <a:prstGeom prst="rect">
            <a:avLst/>
          </a:prstGeom>
          <a:solidFill>
            <a:srgbClr val="126E78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1828800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/ 500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2907792" y="227685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英语 / 西班牙语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56632" y="1700784"/>
            <a:ext cx="2011680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56632" y="1700784"/>
            <a:ext cx="82296" cy="950976"/>
          </a:xfrm>
          <a:prstGeom prst="rect">
            <a:avLst/>
          </a:prstGeom>
          <a:solidFill>
            <a:srgbClr val="E8AD32"/>
          </a:solidFill>
          <a:ln w="12700">
            <a:solidFill>
              <a:srgbClr val="E8AD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276088" y="1828800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× 5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2276856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每个星级等量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1700784"/>
            <a:ext cx="1847088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23760" y="1700784"/>
            <a:ext cx="82296" cy="950976"/>
          </a:xfrm>
          <a:prstGeom prst="rect">
            <a:avLst/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43216" y="1828800"/>
            <a:ext cx="1517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443216" y="227685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冻结人工金标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26296" y="1700784"/>
            <a:ext cx="2276856" cy="950976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26296" y="1700784"/>
            <a:ext cx="82296" cy="950976"/>
          </a:xfrm>
          <a:prstGeom prst="rect">
            <a:avLst/>
          </a:prstGeom>
          <a:solidFill>
            <a:srgbClr val="B94234"/>
          </a:solidFill>
          <a:ln w="12700">
            <a:solidFill>
              <a:srgbClr val="B9423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45752" y="1828800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B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2015–19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445752" y="2276856"/>
            <a:ext cx="1947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原始评论年份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76656" y="303580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10" kern="0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× STAR STRATA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" y="3730752"/>
            <a:ext cx="475488" cy="246888"/>
          </a:xfrm>
          <a:prstGeom prst="roundRect">
            <a:avLst>
              <a:gd name="adj" fmla="val 29630"/>
            </a:avLst>
          </a:prstGeom>
          <a:solidFill>
            <a:srgbClr val="126E78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" y="37353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444752" y="3529584"/>
            <a:ext cx="10058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444752" y="36210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1★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444752" y="3877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79192" y="3529584"/>
            <a:ext cx="10058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79192" y="36210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2★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679192" y="3877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13632" y="3529584"/>
            <a:ext cx="10058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913632" y="36210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3★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913632" y="3877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48072" y="3529584"/>
            <a:ext cx="10058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148072" y="36210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4★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148072" y="3877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82512" y="3529584"/>
            <a:ext cx="10058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382512" y="36210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5★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382512" y="3877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6656" y="4818888"/>
            <a:ext cx="475488" cy="246888"/>
          </a:xfrm>
          <a:prstGeom prst="roundRect">
            <a:avLst>
              <a:gd name="adj" fmla="val 29630"/>
            </a:avLst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6656" y="48234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1444752" y="4617720"/>
            <a:ext cx="10058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444752" y="47091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1★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1444752" y="4965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79192" y="4617720"/>
            <a:ext cx="10058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679192" y="47091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2★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2679192" y="4965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3632" y="4617720"/>
            <a:ext cx="10058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913632" y="47091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3★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3913632" y="4965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148072" y="4617720"/>
            <a:ext cx="10058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148072" y="47091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4★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5148072" y="4965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382512" y="4617720"/>
            <a:ext cx="1005840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382512" y="470916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5★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6382512" y="496519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028432" y="3319272"/>
            <a:ext cx="3493008" cy="2130552"/>
          </a:xfrm>
          <a:prstGeom prst="roundRect">
            <a:avLst>
              <a:gd name="adj" fmla="val 4292"/>
            </a:avLst>
          </a:prstGeom>
          <a:solidFill>
            <a:srgbClr val="0B2638"/>
          </a:solidFill>
          <a:ln w="12700">
            <a:solidFill>
              <a:srgbClr val="0B2638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302752" y="3593592"/>
            <a:ext cx="2651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可复现抽样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8302752" y="4069080"/>
            <a:ext cx="2679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CA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SHA-256(seed + review_id)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按哈希值排序，每层取前 100 条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8302752" y="4974336"/>
            <a:ext cx="2606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E8A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seed: crossborder-voice-v1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676656" y="576986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42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1252728" y="5733288"/>
            <a:ext cx="10058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研究语料用于方法验证；不将样本差异外推为普遍文化差异，也不声称代表当前市场。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566928" y="644652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A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data/raw/sampling_manifest.json · data/DATA_SOURCE.md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TAXONOMY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语言学标签体系：从态度到行动，始终保留原文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多标签、最小充分证据、不进行常识补全；产品问题与履约问题分开标注。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846320" y="2130552"/>
            <a:ext cx="2487168" cy="2487168"/>
          </a:xfrm>
          <a:prstGeom prst="ellipse">
            <a:avLst/>
          </a:prstGeom>
          <a:solidFill>
            <a:srgbClr val="0B2638"/>
          </a:solidFill>
          <a:ln w="12700">
            <a:solidFill>
              <a:srgbClr val="0B26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48072" y="2432304"/>
            <a:ext cx="1883664" cy="1883664"/>
          </a:xfrm>
          <a:prstGeom prst="ellipse">
            <a:avLst/>
          </a:prstGeom>
          <a:solidFill>
            <a:srgbClr val="F4F1E9"/>
          </a:solidFill>
          <a:ln w="12700">
            <a:solidFill>
              <a:srgbClr val="F4F1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58384" y="27889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40680" y="3118104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最小充分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原文片段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76656" y="1719072"/>
            <a:ext cx="243230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6656" y="1719072"/>
            <a:ext cx="82296" cy="841248"/>
          </a:xfrm>
          <a:prstGeom prst="rect">
            <a:avLst/>
          </a:prstGeom>
          <a:solidFill>
            <a:srgbClr val="126E78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5256" y="183794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整体情感 + 强度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215798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positive / mixed / uncertain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108960" y="2139696"/>
            <a:ext cx="1737360" cy="1234440"/>
          </a:xfrm>
          <a:prstGeom prst="line">
            <a:avLst/>
          </a:prstGeom>
          <a:noFill/>
          <a:ln w="15240">
            <a:solidFill>
              <a:srgbClr val="126E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2907792"/>
            <a:ext cx="243230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2907792"/>
            <a:ext cx="82296" cy="841248"/>
          </a:xfrm>
          <a:prstGeom prst="rect">
            <a:avLst/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5256" y="302666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 + 具体问题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" y="334670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效果、气味、配送、难以使用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3108960" y="3328416"/>
            <a:ext cx="1737360" cy="45720"/>
          </a:xfrm>
          <a:prstGeom prst="line">
            <a:avLst/>
          </a:prstGeom>
          <a:noFill/>
          <a:ln w="15240">
            <a:solidFill>
              <a:srgbClr val="E765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4096512"/>
            <a:ext cx="243230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8A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4096512"/>
            <a:ext cx="82296" cy="841248"/>
          </a:xfrm>
          <a:prstGeom prst="rect">
            <a:avLst/>
          </a:prstGeom>
          <a:solidFill>
            <a:srgbClr val="E8AD32"/>
          </a:solidFill>
          <a:ln w="12700">
            <a:solidFill>
              <a:srgbClr val="E8AD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5256" y="421538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购买动机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" y="453542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复购、送礼、价格、特定需求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108960" y="4517136"/>
            <a:ext cx="1737360" cy="-1143000"/>
          </a:xfrm>
          <a:prstGeom prst="line">
            <a:avLst/>
          </a:prstGeom>
          <a:noFill/>
          <a:ln w="15240">
            <a:solidFill>
              <a:srgbClr val="E8AD3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1719072"/>
            <a:ext cx="243230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52560" y="1719072"/>
            <a:ext cx="82296" cy="841248"/>
          </a:xfrm>
          <a:prstGeom prst="rect">
            <a:avLst/>
          </a:prstGeom>
          <a:solidFill>
            <a:srgbClr val="3E9B94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1160" y="183794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使用场景与状态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15798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日常护理 / 尚未使用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333488" y="2139696"/>
            <a:ext cx="1719072" cy="1234440"/>
          </a:xfrm>
          <a:prstGeom prst="line">
            <a:avLst/>
          </a:prstGeom>
          <a:noFill/>
          <a:ln w="15240">
            <a:solidFill>
              <a:srgbClr val="3E9B9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52560" y="2907792"/>
            <a:ext cx="243230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942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52560" y="2907792"/>
            <a:ext cx="82296" cy="841248"/>
          </a:xfrm>
          <a:prstGeom prst="rect">
            <a:avLst/>
          </a:prstGeom>
          <a:solidFill>
            <a:srgbClr val="B94234"/>
          </a:solidFill>
          <a:ln w="12700">
            <a:solidFill>
              <a:srgbClr val="B9423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281160" y="302666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预期落差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281160" y="334670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广告承诺 vs 实际体验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7333488" y="3328416"/>
            <a:ext cx="1719072" cy="45720"/>
          </a:xfrm>
          <a:prstGeom prst="line">
            <a:avLst/>
          </a:prstGeom>
          <a:noFill/>
          <a:ln w="15240">
            <a:solidFill>
              <a:srgbClr val="B9423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52560" y="4096512"/>
            <a:ext cx="243230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14394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52560" y="4096512"/>
            <a:ext cx="82296" cy="841248"/>
          </a:xfrm>
          <a:prstGeom prst="rect">
            <a:avLst/>
          </a:prstGeom>
          <a:solidFill>
            <a:srgbClr val="14394C"/>
          </a:solidFill>
          <a:ln w="12700">
            <a:solidFill>
              <a:srgbClr val="14394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81160" y="4215384"/>
            <a:ext cx="20848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言语行为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281160" y="4535424"/>
            <a:ext cx="20848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推荐、警告、抱怨、请求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7333488" y="4517136"/>
            <a:ext cx="1719072" cy="-1143000"/>
          </a:xfrm>
          <a:prstGeom prst="line">
            <a:avLst/>
          </a:prstGeom>
          <a:noFill/>
          <a:ln w="15240">
            <a:solidFill>
              <a:srgbClr val="14394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85032" y="5230368"/>
            <a:ext cx="4837176" cy="640080"/>
          </a:xfrm>
          <a:prstGeom prst="roundRect">
            <a:avLst>
              <a:gd name="adj" fmla="val 11429"/>
            </a:avLst>
          </a:prstGeom>
          <a:solidFill>
            <a:srgbClr val="DCECE7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931920" y="5413248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输出边界：无证据 → 不贴标签；信息不足 → uncertain / unclear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44652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A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annotation guideline · schema v1.7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WORKFLOW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一条评论如何变成可追溯洞察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严格结构化输出、证据校验、自动重试和断点续跑，保证网络波动下仍可恢复。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21792" y="1947672"/>
            <a:ext cx="1508760" cy="190195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139696"/>
            <a:ext cx="384048" cy="384048"/>
          </a:xfrm>
          <a:prstGeom prst="ellipse">
            <a:avLst/>
          </a:prstGeom>
          <a:solidFill>
            <a:srgbClr val="126E78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688336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108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字段与质量标记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67128" y="2898648"/>
            <a:ext cx="301752" cy="0"/>
          </a:xfrm>
          <a:prstGeom prst="line">
            <a:avLst/>
          </a:prstGeom>
          <a:noFill/>
          <a:ln w="16510">
            <a:solidFill>
              <a:srgbClr val="C9D0C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23744" y="1947672"/>
            <a:ext cx="1508760" cy="190195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88336" y="2139696"/>
            <a:ext cx="384048" cy="384048"/>
          </a:xfrm>
          <a:prstGeom prst="ellipse">
            <a:avLst/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88336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2688336" y="2688336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v9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88336" y="3108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 + 稀疏输出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069080" y="2898648"/>
            <a:ext cx="301752" cy="0"/>
          </a:xfrm>
          <a:prstGeom prst="line">
            <a:avLst/>
          </a:prstGeom>
          <a:noFill/>
          <a:ln w="16510">
            <a:solidFill>
              <a:srgbClr val="C9D0C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25696" y="1947672"/>
            <a:ext cx="1508760" cy="190195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0B26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2139696"/>
            <a:ext cx="384048" cy="384048"/>
          </a:xfrm>
          <a:prstGeom prst="ellipse">
            <a:avLst/>
          </a:prstGeom>
          <a:solidFill>
            <a:srgbClr val="0B2638"/>
          </a:solidFill>
          <a:ln w="12700">
            <a:solidFill>
              <a:srgbClr val="0B26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4590288" y="2688336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590288" y="3108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英西双语分析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71032" y="2898648"/>
            <a:ext cx="301752" cy="0"/>
          </a:xfrm>
          <a:prstGeom prst="line">
            <a:avLst/>
          </a:prstGeom>
          <a:noFill/>
          <a:ln w="16510">
            <a:solidFill>
              <a:srgbClr val="C9D0C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27648" y="1947672"/>
            <a:ext cx="1508760" cy="190195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B9423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2139696"/>
            <a:ext cx="384048" cy="384048"/>
          </a:xfrm>
          <a:prstGeom prst="ellipse">
            <a:avLst/>
          </a:prstGeom>
          <a:solidFill>
            <a:srgbClr val="B94234"/>
          </a:solidFill>
          <a:ln w="12700">
            <a:solidFill>
              <a:srgbClr val="B9423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92240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2688336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108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结构与证据校验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872984" y="2898648"/>
            <a:ext cx="301752" cy="0"/>
          </a:xfrm>
          <a:prstGeom prst="line">
            <a:avLst/>
          </a:prstGeom>
          <a:noFill/>
          <a:ln w="16510">
            <a:solidFill>
              <a:srgbClr val="C9D0C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229600" y="1947672"/>
            <a:ext cx="1508760" cy="190195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8AD3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2139696"/>
            <a:ext cx="384048" cy="384048"/>
          </a:xfrm>
          <a:prstGeom prst="ellipse">
            <a:avLst/>
          </a:prstGeom>
          <a:solidFill>
            <a:srgbClr val="E8AD32"/>
          </a:solidFill>
          <a:ln w="12700">
            <a:solidFill>
              <a:srgbClr val="E8AD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94192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2688336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3108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支持量与差异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74936" y="2898648"/>
            <a:ext cx="301752" cy="0"/>
          </a:xfrm>
          <a:prstGeom prst="line">
            <a:avLst/>
          </a:prstGeom>
          <a:noFill/>
          <a:ln w="16510">
            <a:solidFill>
              <a:srgbClr val="C9D0C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131552" y="1947672"/>
            <a:ext cx="1508760" cy="1901952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96144" y="2139696"/>
            <a:ext cx="384048" cy="384048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296144" y="21488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10296144" y="2688336"/>
            <a:ext cx="1152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296144" y="31089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证据到行动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40880" y="4069080"/>
            <a:ext cx="-1883664" cy="0"/>
          </a:xfrm>
          <a:prstGeom prst="line">
            <a:avLst/>
          </a:prstGeom>
          <a:noFill/>
          <a:ln w="20320">
            <a:solidFill>
              <a:srgbClr val="E76535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4754880" y="41879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65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校验失败 → 修复提示 → 指数退避重试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" y="4910328"/>
            <a:ext cx="2450592" cy="758952"/>
          </a:xfrm>
          <a:prstGeom prst="roundRect">
            <a:avLst>
              <a:gd name="adj" fmla="val 9639"/>
            </a:avLst>
          </a:prstGeom>
          <a:solidFill>
            <a:srgbClr val="DCECE7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41248" y="504748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830" dirty="0"/>
          </a:p>
        </p:txBody>
      </p:sp>
      <p:sp>
        <p:nvSpPr>
          <p:cNvPr id="44" name="Text 42"/>
          <p:cNvSpPr txBox="1"/>
          <p:nvPr/>
        </p:nvSpPr>
        <p:spPr>
          <a:xfrm>
            <a:off x="841248" y="5285232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跳过已完成 ID，补跑缺失项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3419856" y="4910328"/>
            <a:ext cx="2450592" cy="758952"/>
          </a:xfrm>
          <a:prstGeom prst="roundRect">
            <a:avLst>
              <a:gd name="adj" fmla="val 9639"/>
            </a:avLst>
          </a:prstGeom>
          <a:solidFill>
            <a:srgbClr val="F5D6C8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602736" y="504748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830" dirty="0"/>
          </a:p>
        </p:txBody>
      </p:sp>
      <p:sp>
        <p:nvSpPr>
          <p:cNvPr id="47" name="Text 45"/>
          <p:cNvSpPr txBox="1"/>
          <p:nvPr/>
        </p:nvSpPr>
        <p:spPr>
          <a:xfrm>
            <a:off x="3602736" y="5285232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证据必须存在于原文并支持标签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6181344" y="4910328"/>
            <a:ext cx="2450592" cy="758952"/>
          </a:xfrm>
          <a:prstGeom prst="roundRect">
            <a:avLst>
              <a:gd name="adj" fmla="val 9639"/>
            </a:avLst>
          </a:prstGeom>
          <a:solidFill>
            <a:srgbClr val="DCECE7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364224" y="504748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830" dirty="0"/>
          </a:p>
        </p:txBody>
      </p:sp>
      <p:sp>
        <p:nvSpPr>
          <p:cNvPr id="50" name="Text 48"/>
          <p:cNvSpPr txBox="1"/>
          <p:nvPr/>
        </p:nvSpPr>
        <p:spPr>
          <a:xfrm>
            <a:off x="6364224" y="5285232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删除越界标签与不支持建议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8942832" y="4910328"/>
            <a:ext cx="2450592" cy="758952"/>
          </a:xfrm>
          <a:prstGeom prst="roundRect">
            <a:avLst>
              <a:gd name="adj" fmla="val 9639"/>
            </a:avLst>
          </a:prstGeom>
          <a:solidFill>
            <a:srgbClr val="F5D6C8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125712" y="504748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</a:t>
            </a:r>
            <a:endParaRPr lang="en-US" sz="830" dirty="0"/>
          </a:p>
        </p:txBody>
      </p:sp>
      <p:sp>
        <p:nvSpPr>
          <p:cNvPr id="53" name="Text 51"/>
          <p:cNvSpPr txBox="1"/>
          <p:nvPr/>
        </p:nvSpPr>
        <p:spPr>
          <a:xfrm>
            <a:off x="9125712" y="5285232"/>
            <a:ext cx="2075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 prompt / schema / token / cost</a:t>
            </a:r>
            <a:endParaRPr lang="en-US" sz="880" dirty="0"/>
          </a:p>
        </p:txBody>
      </p:sp>
      <p:sp>
        <p:nvSpPr>
          <p:cNvPr id="54" name="Text 52"/>
          <p:cNvSpPr txBox="1"/>
          <p:nvPr/>
        </p:nvSpPr>
        <p:spPr>
          <a:xfrm>
            <a:off x="676656" y="594360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/ 1,000 valid JSON · 0 unresolved errors · 15 traceable insights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566928" y="644652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A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src/llm_analyzer.py · src/schema.py · reports/consumer_insights.json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4747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3E9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PRODUCT UI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让运营人员从趋势下钻到原文证据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338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FC2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六类全局筛选 · 五个分析页面 · 1,000 条评论证据库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021824" y="749808"/>
            <a:ext cx="1261872" cy="246888"/>
          </a:xfrm>
          <a:prstGeom prst="roundRect">
            <a:avLst>
              <a:gd name="adj" fmla="val 29630"/>
            </a:avLst>
          </a:prstGeom>
          <a:solidFill>
            <a:srgbClr val="126E78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21824" y="754380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 PASS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12064" y="1664208"/>
            <a:ext cx="7571232" cy="4242816"/>
          </a:xfrm>
          <a:prstGeom prst="roundRect">
            <a:avLst>
              <a:gd name="adj" fmla="val 12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0" descr="C:\Users\86182\Documents\Codex\2026-07-28\wo\outputs\crossborder-voice\assets\dashboar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64792"/>
            <a:ext cx="7370064" cy="41330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93608" y="1664208"/>
            <a:ext cx="3383280" cy="1975104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C:\Users\86182\Documents\Codex\2026-07-28\wo\outputs\crossborder-voice\assets\dashboard_cross_langu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1746504"/>
            <a:ext cx="3200400" cy="180136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293608" y="3849624"/>
            <a:ext cx="338328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2" descr="C:\Users\86182\Documents\Codex\2026-07-28\wo\outputs\crossborder-voice\assets\dashboard_insigh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3941064"/>
            <a:ext cx="3200400" cy="18013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68096" y="6053328"/>
            <a:ext cx="1234440" cy="246888"/>
          </a:xfrm>
          <a:prstGeom prst="roundRect">
            <a:avLst>
              <a:gd name="adj" fmla="val 29630"/>
            </a:avLst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68096" y="6057900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PULSE</a:t>
            </a:r>
            <a:endParaRPr lang="en-US" sz="800" dirty="0"/>
          </a:p>
        </p:txBody>
      </p:sp>
      <p:sp>
        <p:nvSpPr>
          <p:cNvPr id="15" name="Text 10"/>
          <p:cNvSpPr txBox="1"/>
          <p:nvPr/>
        </p:nvSpPr>
        <p:spPr>
          <a:xfrm>
            <a:off x="2176272" y="6035040"/>
            <a:ext cx="2880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8D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总览把星级与文本情感分开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5779008" y="6053328"/>
            <a:ext cx="1481328" cy="246888"/>
          </a:xfrm>
          <a:prstGeom prst="roundRect">
            <a:avLst>
              <a:gd name="adj" fmla="val 29630"/>
            </a:avLst>
          </a:prstGeom>
          <a:solidFill>
            <a:srgbClr val="126E78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779008" y="6057900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CROSS-LANGUAGE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7406640" y="6035040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8D8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跨语对照不做因果外推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585216" y="647395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29D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界面已通过 3 项自动测试、生产构建与浏览器控制台检查。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EVALUATION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 100 条金标集：改进版更准，也更克制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Baseline v1 与 Improved v9 使用同一模型、同一独立测试集；自动指标与人工复核同时报告。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239512" y="163677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956048" y="1682496"/>
            <a:ext cx="182880" cy="91440"/>
          </a:xfrm>
          <a:prstGeom prst="rect">
            <a:avLst/>
          </a:prstGeom>
          <a:solidFill>
            <a:srgbClr val="C9D0CE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63677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IMPROVED v9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300216" y="1682496"/>
            <a:ext cx="182880" cy="91440"/>
          </a:xfrm>
          <a:prstGeom prst="rect">
            <a:avLst/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965960"/>
            <a:ext cx="0" cy="3246120"/>
          </a:xfrm>
          <a:prstGeom prst="line">
            <a:avLst/>
          </a:prstGeom>
          <a:noFill/>
          <a:ln w="8890">
            <a:solidFill>
              <a:srgbClr val="D9DE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31136" y="52943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714750" y="1965960"/>
            <a:ext cx="0" cy="3246120"/>
          </a:xfrm>
          <a:prstGeom prst="line">
            <a:avLst/>
          </a:prstGeom>
          <a:noFill/>
          <a:ln w="8890">
            <a:solidFill>
              <a:srgbClr val="D9DE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8446" y="52943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052060" y="1965960"/>
            <a:ext cx="0" cy="3246120"/>
          </a:xfrm>
          <a:prstGeom prst="line">
            <a:avLst/>
          </a:prstGeom>
          <a:noFill/>
          <a:ln w="8890">
            <a:solidFill>
              <a:srgbClr val="D9DE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05756" y="52943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389370" y="1965960"/>
            <a:ext cx="0" cy="3246120"/>
          </a:xfrm>
          <a:prstGeom prst="line">
            <a:avLst/>
          </a:prstGeom>
          <a:noFill/>
          <a:ln w="8890">
            <a:solidFill>
              <a:srgbClr val="D9DE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43066" y="52943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726680" y="1965960"/>
            <a:ext cx="0" cy="3246120"/>
          </a:xfrm>
          <a:prstGeom prst="line">
            <a:avLst/>
          </a:prstGeom>
          <a:noFill/>
          <a:ln w="8890">
            <a:solidFill>
              <a:srgbClr val="D9DED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580376" y="5294376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750" dirty="0"/>
          </a:p>
        </p:txBody>
      </p:sp>
      <p:sp>
        <p:nvSpPr>
          <p:cNvPr id="19" name="Text 17"/>
          <p:cNvSpPr txBox="1"/>
          <p:nvPr/>
        </p:nvSpPr>
        <p:spPr>
          <a:xfrm>
            <a:off x="758952" y="203911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 Accuracy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377440" y="2002536"/>
            <a:ext cx="3610737" cy="164592"/>
          </a:xfrm>
          <a:prstGeom prst="rect">
            <a:avLst/>
          </a:prstGeom>
          <a:solidFill>
            <a:srgbClr val="C9D0CE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77440" y="2221992"/>
            <a:ext cx="3878199" cy="164592"/>
          </a:xfrm>
          <a:prstGeom prst="rect">
            <a:avLst/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33897" y="19751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87.00%</a:t>
            </a:r>
            <a:endParaRPr lang="en-US" sz="760" dirty="0"/>
          </a:p>
        </p:txBody>
      </p:sp>
      <p:sp>
        <p:nvSpPr>
          <p:cNvPr id="23" name="Text 21"/>
          <p:cNvSpPr txBox="1"/>
          <p:nvPr/>
        </p:nvSpPr>
        <p:spPr>
          <a:xfrm>
            <a:off x="6301359" y="219456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89.00%</a:t>
            </a:r>
            <a:endParaRPr lang="en-US" sz="760" dirty="0"/>
          </a:p>
        </p:txBody>
      </p:sp>
      <p:sp>
        <p:nvSpPr>
          <p:cNvPr id="24" name="Text 22"/>
          <p:cNvSpPr txBox="1"/>
          <p:nvPr/>
        </p:nvSpPr>
        <p:spPr>
          <a:xfrm>
            <a:off x="758952" y="267004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 Precision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377440" y="2633472"/>
            <a:ext cx="1634193" cy="164592"/>
          </a:xfrm>
          <a:prstGeom prst="rect">
            <a:avLst/>
          </a:prstGeom>
          <a:solidFill>
            <a:srgbClr val="C9D0CE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77440" y="2852928"/>
            <a:ext cx="3099885" cy="164592"/>
          </a:xfrm>
          <a:prstGeom prst="rect">
            <a:avLst/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057353" y="2606040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72.22%</a:t>
            </a:r>
            <a:endParaRPr lang="en-US" sz="760" dirty="0"/>
          </a:p>
        </p:txBody>
      </p:sp>
      <p:sp>
        <p:nvSpPr>
          <p:cNvPr id="28" name="Text 26"/>
          <p:cNvSpPr txBox="1"/>
          <p:nvPr/>
        </p:nvSpPr>
        <p:spPr>
          <a:xfrm>
            <a:off x="5523045" y="282549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83.18%</a:t>
            </a:r>
            <a:endParaRPr lang="en-US" sz="760" dirty="0"/>
          </a:p>
        </p:txBody>
      </p:sp>
      <p:sp>
        <p:nvSpPr>
          <p:cNvPr id="29" name="Text 27"/>
          <p:cNvSpPr txBox="1"/>
          <p:nvPr/>
        </p:nvSpPr>
        <p:spPr>
          <a:xfrm>
            <a:off x="758952" y="330098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 F1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2377440" y="3264408"/>
            <a:ext cx="998971" cy="164592"/>
          </a:xfrm>
          <a:prstGeom prst="rect">
            <a:avLst/>
          </a:prstGeom>
          <a:solidFill>
            <a:srgbClr val="C9D0CE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77440" y="3483864"/>
            <a:ext cx="1874909" cy="164592"/>
          </a:xfrm>
          <a:prstGeom prst="rect">
            <a:avLst/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22131" y="323697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67.47%</a:t>
            </a:r>
            <a:endParaRPr lang="en-US" sz="760" dirty="0"/>
          </a:p>
        </p:txBody>
      </p:sp>
      <p:sp>
        <p:nvSpPr>
          <p:cNvPr id="33" name="Text 31"/>
          <p:cNvSpPr txBox="1"/>
          <p:nvPr/>
        </p:nvSpPr>
        <p:spPr>
          <a:xfrm>
            <a:off x="4298069" y="345643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74.02%</a:t>
            </a:r>
            <a:endParaRPr lang="en-US" sz="760" dirty="0"/>
          </a:p>
        </p:txBody>
      </p:sp>
      <p:sp>
        <p:nvSpPr>
          <p:cNvPr id="34" name="Text 32"/>
          <p:cNvSpPr txBox="1"/>
          <p:nvPr/>
        </p:nvSpPr>
        <p:spPr>
          <a:xfrm>
            <a:off x="758952" y="393192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F1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2377440" y="3895344"/>
            <a:ext cx="1679661" cy="164592"/>
          </a:xfrm>
          <a:prstGeom prst="rect">
            <a:avLst/>
          </a:prstGeom>
          <a:solidFill>
            <a:srgbClr val="C9D0CE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77440" y="4114800"/>
            <a:ext cx="1987243" cy="164592"/>
          </a:xfrm>
          <a:prstGeom prst="rect">
            <a:avLst/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02821" y="386791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72.56%</a:t>
            </a:r>
            <a:endParaRPr lang="en-US" sz="760" dirty="0"/>
          </a:p>
        </p:txBody>
      </p:sp>
      <p:sp>
        <p:nvSpPr>
          <p:cNvPr id="38" name="Text 36"/>
          <p:cNvSpPr txBox="1"/>
          <p:nvPr/>
        </p:nvSpPr>
        <p:spPr>
          <a:xfrm>
            <a:off x="4410403" y="408736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74.86%</a:t>
            </a:r>
            <a:endParaRPr lang="en-US" sz="760" dirty="0"/>
          </a:p>
        </p:txBody>
      </p:sp>
      <p:sp>
        <p:nvSpPr>
          <p:cNvPr id="39" name="Text 37"/>
          <p:cNvSpPr txBox="1"/>
          <p:nvPr/>
        </p:nvSpPr>
        <p:spPr>
          <a:xfrm>
            <a:off x="758952" y="456285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证据语义有效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2377440" y="4526280"/>
            <a:ext cx="3744468" cy="164592"/>
          </a:xfrm>
          <a:prstGeom prst="rect">
            <a:avLst/>
          </a:prstGeom>
          <a:solidFill>
            <a:srgbClr val="C9D0CE"/>
          </a:solidFill>
          <a:ln w="12700">
            <a:solidFill>
              <a:srgbClr val="C9D0C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377440" y="4745736"/>
            <a:ext cx="4814316" cy="164592"/>
          </a:xfrm>
          <a:prstGeom prst="rect">
            <a:avLst/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167628" y="4498848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667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88.00%</a:t>
            </a:r>
            <a:endParaRPr lang="en-US" sz="760" dirty="0"/>
          </a:p>
        </p:txBody>
      </p:sp>
      <p:sp>
        <p:nvSpPr>
          <p:cNvPr id="43" name="Text 41"/>
          <p:cNvSpPr txBox="1"/>
          <p:nvPr/>
        </p:nvSpPr>
        <p:spPr>
          <a:xfrm>
            <a:off x="7237476" y="4718304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96.00%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8193024" y="1783080"/>
            <a:ext cx="3364992" cy="3977640"/>
          </a:xfrm>
          <a:prstGeom prst="roundRect">
            <a:avLst>
              <a:gd name="adj" fmla="val 2717"/>
            </a:avLst>
          </a:prstGeom>
          <a:solidFill>
            <a:srgbClr val="0B2638"/>
          </a:solidFill>
          <a:ln w="12700">
            <a:solidFill>
              <a:srgbClr val="0B2638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76488" y="2048256"/>
            <a:ext cx="2514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3E9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GATES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8476488" y="2487168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9646920" y="2496312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D7E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success</a:t>
            </a:r>
            <a:endParaRPr lang="en-US" sz="930" dirty="0"/>
          </a:p>
        </p:txBody>
      </p:sp>
      <p:sp>
        <p:nvSpPr>
          <p:cNvPr id="48" name="Text 46"/>
          <p:cNvSpPr txBox="1"/>
          <p:nvPr/>
        </p:nvSpPr>
        <p:spPr>
          <a:xfrm>
            <a:off x="9646920" y="2715768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≥95%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8476488" y="3191256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9646920" y="3200400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D7E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accuracy</a:t>
            </a:r>
            <a:endParaRPr lang="en-US" sz="930" dirty="0"/>
          </a:p>
        </p:txBody>
      </p:sp>
      <p:sp>
        <p:nvSpPr>
          <p:cNvPr id="51" name="Text 49"/>
          <p:cNvSpPr txBox="1"/>
          <p:nvPr/>
        </p:nvSpPr>
        <p:spPr>
          <a:xfrm>
            <a:off x="9646920" y="3419856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≥80%</a:t>
            </a:r>
            <a:endParaRPr lang="en-US" sz="750" dirty="0"/>
          </a:p>
        </p:txBody>
      </p:sp>
      <p:sp>
        <p:nvSpPr>
          <p:cNvPr id="52" name="Text 50"/>
          <p:cNvSpPr txBox="1"/>
          <p:nvPr/>
        </p:nvSpPr>
        <p:spPr>
          <a:xfrm>
            <a:off x="8476488" y="3895344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74.02%</a:t>
            </a:r>
            <a:endParaRPr lang="en-US" sz="1700" dirty="0"/>
          </a:p>
        </p:txBody>
      </p:sp>
      <p:sp>
        <p:nvSpPr>
          <p:cNvPr id="53" name="Text 51"/>
          <p:cNvSpPr txBox="1"/>
          <p:nvPr/>
        </p:nvSpPr>
        <p:spPr>
          <a:xfrm>
            <a:off x="9646920" y="3904488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D7E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Aspect F1</a:t>
            </a:r>
            <a:endParaRPr lang="en-US" sz="930" dirty="0"/>
          </a:p>
        </p:txBody>
      </p:sp>
      <p:sp>
        <p:nvSpPr>
          <p:cNvPr id="54" name="Text 52"/>
          <p:cNvSpPr txBox="1"/>
          <p:nvPr/>
        </p:nvSpPr>
        <p:spPr>
          <a:xfrm>
            <a:off x="9646920" y="4123944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≥70%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8476488" y="4599432"/>
            <a:ext cx="1051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A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700" dirty="0"/>
          </a:p>
        </p:txBody>
      </p:sp>
      <p:sp>
        <p:nvSpPr>
          <p:cNvPr id="56" name="Text 54"/>
          <p:cNvSpPr txBox="1"/>
          <p:nvPr/>
        </p:nvSpPr>
        <p:spPr>
          <a:xfrm>
            <a:off x="9646920" y="4608576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D7E2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evidence</a:t>
            </a:r>
            <a:endParaRPr lang="en-US" sz="930" dirty="0"/>
          </a:p>
        </p:txBody>
      </p:sp>
      <p:sp>
        <p:nvSpPr>
          <p:cNvPr id="57" name="Text 55"/>
          <p:cNvSpPr txBox="1"/>
          <p:nvPr/>
        </p:nvSpPr>
        <p:spPr>
          <a:xfrm>
            <a:off x="9646920" y="4828032"/>
            <a:ext cx="1545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A2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≥90%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8476488" y="5404104"/>
            <a:ext cx="2715768" cy="0"/>
          </a:xfrm>
          <a:prstGeom prst="line">
            <a:avLst/>
          </a:prstGeom>
          <a:noFill/>
          <a:ln w="11430">
            <a:solidFill>
              <a:srgbClr val="36546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8476488" y="5504688"/>
            <a:ext cx="2679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8A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tests passed · 10 failure cases retained</a:t>
            </a:r>
            <a:endParaRPr lang="en-US" sz="850" dirty="0"/>
          </a:p>
        </p:txBody>
      </p:sp>
      <p:sp>
        <p:nvSpPr>
          <p:cNvPr id="60" name="Text 58"/>
          <p:cNvSpPr txBox="1"/>
          <p:nvPr/>
        </p:nvSpPr>
        <p:spPr>
          <a:xfrm>
            <a:off x="749808" y="5769864"/>
            <a:ext cx="710488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942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提醒：neutral 金标仅 1 条，Macro-F1 受小类样本量显著影响。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566928" y="644652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A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reports/evaluation_report.json · reports/evaluation_report.md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INSIGHTS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条洞察不是结论终点，而是行动入口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每条洞察包含支持量、语言分布、3 条原文证据与可复核的业务建议。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3172968" cy="3429000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B942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975104"/>
            <a:ext cx="877824" cy="246888"/>
          </a:xfrm>
          <a:prstGeom prst="roundRect">
            <a:avLst>
              <a:gd name="adj" fmla="val 29630"/>
            </a:avLst>
          </a:prstGeom>
          <a:solidFill>
            <a:srgbClr val="B94234"/>
          </a:solidFill>
          <a:ln w="12700">
            <a:solidFill>
              <a:srgbClr val="B942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7967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423160"/>
            <a:ext cx="11704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94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1956816" y="2496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效果不足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956816" y="2834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低星支持评论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868680" y="3246120"/>
            <a:ext cx="2743200" cy="0"/>
          </a:xfrm>
          <a:prstGeom prst="line">
            <a:avLst/>
          </a:prstGeom>
          <a:noFill/>
          <a:ln w="10160">
            <a:solidFill>
              <a:srgbClr val="C9D0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4930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B94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3822192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详情页降低绝对化承诺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补充适用条件与预期周期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8188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证据卡片可回到评论原文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224528" y="1755648"/>
            <a:ext cx="3172968" cy="3429000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975104"/>
            <a:ext cx="877824" cy="246888"/>
          </a:xfrm>
          <a:prstGeom prst="roundRect">
            <a:avLst>
              <a:gd name="adj" fmla="val 29630"/>
            </a:avLst>
          </a:prstGeom>
          <a:solidFill>
            <a:srgbClr val="E76535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197967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425696" y="2423160"/>
            <a:ext cx="11704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3600" dirty="0"/>
          </a:p>
        </p:txBody>
      </p:sp>
      <p:sp>
        <p:nvSpPr>
          <p:cNvPr id="19" name="Text 17"/>
          <p:cNvSpPr txBox="1"/>
          <p:nvPr/>
        </p:nvSpPr>
        <p:spPr>
          <a:xfrm>
            <a:off x="5522976" y="2496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延迟或未送达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522976" y="2834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低星支持评论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434840" y="3246120"/>
            <a:ext cx="2743200" cy="0"/>
          </a:xfrm>
          <a:prstGeom prst="line">
            <a:avLst/>
          </a:prstGeom>
          <a:noFill/>
          <a:ln w="10160">
            <a:solidFill>
              <a:srgbClr val="C9D0C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4840" y="34930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4434840" y="3822192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产品问题与履约问题分流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建立配送异常客服 FAQ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434840" y="48188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证据卡片可回到评论原文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7790688" y="1755648"/>
            <a:ext cx="3172968" cy="3429000"/>
          </a:xfrm>
          <a:prstGeom prst="roundRect">
            <a:avLst>
              <a:gd name="adj" fmla="val 2594"/>
            </a:avLst>
          </a:prstGeom>
          <a:solidFill>
            <a:srgbClr val="FFFFFF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01000" y="1975104"/>
            <a:ext cx="877824" cy="246888"/>
          </a:xfrm>
          <a:prstGeom prst="roundRect">
            <a:avLst>
              <a:gd name="adj" fmla="val 29630"/>
            </a:avLst>
          </a:prstGeom>
          <a:solidFill>
            <a:srgbClr val="126E78"/>
          </a:solidFill>
          <a:ln w="12700">
            <a:solidFill>
              <a:srgbClr val="126E7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01000" y="1979676"/>
            <a:ext cx="877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7991856" y="2423160"/>
            <a:ext cx="117043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3600" dirty="0"/>
          </a:p>
        </p:txBody>
      </p:sp>
      <p:sp>
        <p:nvSpPr>
          <p:cNvPr id="29" name="Text 27"/>
          <p:cNvSpPr txBox="1"/>
          <p:nvPr/>
        </p:nvSpPr>
        <p:spPr>
          <a:xfrm>
            <a:off x="9089136" y="249631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B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送礼动机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089136" y="28346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高星支持评论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8001000" y="3246120"/>
            <a:ext cx="2743200" cy="0"/>
          </a:xfrm>
          <a:prstGeom prst="line">
            <a:avLst/>
          </a:prstGeom>
          <a:noFill/>
          <a:ln w="10160">
            <a:solidFill>
              <a:srgbClr val="C9D0C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01000" y="34930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8001000" y="3822192"/>
            <a:ext cx="2670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验证礼赠场景卖点</a:t>
            </a:r>
            <a:endParaRPr lang="en-US" sz="1100" dirty="0"/>
          </a:p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制作节日与关系场景内容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001000" y="48188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证据卡片可回到评论原文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658368" y="5468112"/>
            <a:ext cx="10305288" cy="603504"/>
          </a:xfrm>
          <a:prstGeom prst="roundRect">
            <a:avLst>
              <a:gd name="adj" fmla="val 12121"/>
            </a:avLst>
          </a:prstGeom>
          <a:solidFill>
            <a:srgbClr val="0B2638"/>
          </a:solidFill>
          <a:ln w="12700">
            <a:solidFill>
              <a:srgbClr val="0B263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32688" y="562356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A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样本洞察 ≠ 当前市场趋势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273552" y="5605272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C7D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数据来自 2015—2019 年；所有建议都需要结合当前产品、站点与市场数据二次验证。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44652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A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consumer insights · aggregated tables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2918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26E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RETROSPECTIVE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我真正完成的是一条“可验证”的产品链路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把语言学判断写进数据规范，把模型不确定性写进产品边界。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737360"/>
            <a:ext cx="5358384" cy="3419856"/>
          </a:xfrm>
          <a:prstGeom prst="roundRect">
            <a:avLst>
              <a:gd name="adj" fmla="val 2674"/>
            </a:avLst>
          </a:prstGeom>
          <a:solidFill>
            <a:srgbClr val="0B2638"/>
          </a:solidFill>
          <a:ln w="12700">
            <a:solidFill>
              <a:srgbClr val="0B263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1993392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3E9B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950976" y="2496312"/>
            <a:ext cx="182880" cy="182880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50976" y="24917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688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可复现的双语分层数据流程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" y="2953512"/>
            <a:ext cx="182880" cy="182880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" y="29489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1280160" y="29260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具备边界规则的语言学标签体系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50976" y="3410712"/>
            <a:ext cx="182880" cy="182880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" y="34061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3832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可恢复、可审计的 LLM 分析流水线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50976" y="3867912"/>
            <a:ext cx="182880" cy="182880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38633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38404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自动指标 + 人工复核的冻结评测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50976" y="4325112"/>
            <a:ext cx="182880" cy="182880"/>
          </a:xfrm>
          <a:prstGeom prst="ellipse">
            <a:avLst/>
          </a:prstGeom>
          <a:solidFill>
            <a:srgbClr val="3E9B94"/>
          </a:solidFill>
          <a:ln w="12700">
            <a:solidFill>
              <a:srgbClr val="3E9B9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50976" y="432054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29768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可下钻到原文证据的交互式看板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81928" y="1737360"/>
            <a:ext cx="5230368" cy="3419856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E7653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65392" y="1993392"/>
            <a:ext cx="2011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20" kern="0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ITERATION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565392" y="2468880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30" dirty="0"/>
          </a:p>
        </p:txBody>
      </p:sp>
      <p:sp>
        <p:nvSpPr>
          <p:cNvPr id="25" name="Text 23"/>
          <p:cNvSpPr txBox="1"/>
          <p:nvPr/>
        </p:nvSpPr>
        <p:spPr>
          <a:xfrm>
            <a:off x="7077456" y="246888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 neutral 与多主题难例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65392" y="2825496"/>
            <a:ext cx="4251960" cy="0"/>
          </a:xfrm>
          <a:prstGeom prst="line">
            <a:avLst/>
          </a:prstGeom>
          <a:noFill/>
          <a:ln w="8890">
            <a:solidFill>
              <a:srgbClr val="C9D0C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65392" y="3026664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30" dirty="0"/>
          </a:p>
        </p:txBody>
      </p:sp>
      <p:sp>
        <p:nvSpPr>
          <p:cNvPr id="28" name="Text 26"/>
          <p:cNvSpPr txBox="1"/>
          <p:nvPr/>
        </p:nvSpPr>
        <p:spPr>
          <a:xfrm>
            <a:off x="7077456" y="302666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双标注一致性与仲裁记录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65392" y="3383280"/>
            <a:ext cx="4251960" cy="0"/>
          </a:xfrm>
          <a:prstGeom prst="line">
            <a:avLst/>
          </a:prstGeom>
          <a:noFill/>
          <a:ln w="8890">
            <a:solidFill>
              <a:srgbClr val="C9D0CE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65392" y="3584448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30" dirty="0"/>
          </a:p>
        </p:txBody>
      </p:sp>
      <p:sp>
        <p:nvSpPr>
          <p:cNvPr id="31" name="Text 29"/>
          <p:cNvSpPr txBox="1"/>
          <p:nvPr/>
        </p:nvSpPr>
        <p:spPr>
          <a:xfrm>
            <a:off x="7077456" y="358444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提高属性召回与建议行动性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65392" y="3941064"/>
            <a:ext cx="4251960" cy="0"/>
          </a:xfrm>
          <a:prstGeom prst="line">
            <a:avLst/>
          </a:prstGeom>
          <a:noFill/>
          <a:ln w="8890">
            <a:solidFill>
              <a:srgbClr val="C9D0C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65392" y="41422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E765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30" dirty="0"/>
          </a:p>
        </p:txBody>
      </p:sp>
      <p:sp>
        <p:nvSpPr>
          <p:cNvPr id="34" name="Text 32"/>
          <p:cNvSpPr txBox="1"/>
          <p:nvPr/>
        </p:nvSpPr>
        <p:spPr>
          <a:xfrm>
            <a:off x="7077456" y="414223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公开演示数据包与权限审查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65392" y="4681728"/>
            <a:ext cx="4352544" cy="256032"/>
          </a:xfrm>
          <a:prstGeom prst="roundRect">
            <a:avLst>
              <a:gd name="adj" fmla="val 17857"/>
            </a:avLst>
          </a:prstGeom>
          <a:solidFill>
            <a:srgbClr val="F5D6C8"/>
          </a:solidFill>
          <a:ln w="12700">
            <a:solidFill>
              <a:srgbClr val="F5D6C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611112" y="4709160"/>
            <a:ext cx="426110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942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 MEASUREMENT · FUTURE WORK</a:t>
            </a:r>
            <a:endParaRPr lang="en-US" sz="720" dirty="0"/>
          </a:p>
        </p:txBody>
      </p:sp>
      <p:sp>
        <p:nvSpPr>
          <p:cNvPr id="37" name="Text 35"/>
          <p:cNvSpPr txBox="1"/>
          <p:nvPr/>
        </p:nvSpPr>
        <p:spPr>
          <a:xfrm>
            <a:off x="676656" y="5577840"/>
            <a:ext cx="2039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26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不虚构的三个数字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807208" y="547725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时间节省率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2807208" y="5733288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42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待补测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623560" y="547725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中转站实际成本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5623560" y="5733288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42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待账单核对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439912" y="5477256"/>
            <a:ext cx="1490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677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 / AI 洞察覆盖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8439912" y="5733288"/>
            <a:ext cx="21579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942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待同批实验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" y="61904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6E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CrossBorder Voice · 可追溯 · 可复核 · 可执行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" y="6446520"/>
            <a:ext cx="9966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A87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status: core system complete · business-value benchmark deferred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48288" y="6455664"/>
            <a:ext cx="310896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5838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CrossBorder Voice｜跨境电商评论洞察 Agent</dc:title>
  <dc:subject>Bilingual review-insight agent portfolio presentation</dc:subject>
  <dc:creator>CrossBorder Voice</dc:creator>
  <cp:lastModifiedBy>CrossBorder Voice</cp:lastModifiedBy>
  <cp:revision>1</cp:revision>
  <dcterms:created xsi:type="dcterms:W3CDTF">2026-07-30T14:08:58Z</dcterms:created>
  <dcterms:modified xsi:type="dcterms:W3CDTF">2026-07-30T14:08:58Z</dcterms:modified>
</cp:coreProperties>
</file>